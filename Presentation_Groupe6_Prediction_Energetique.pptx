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0" y="0"/>
            <a:ext cx="109728" cy="68580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950208" y="6217920"/>
            <a:ext cx="2743200" cy="32004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93408" y="6217920"/>
            <a:ext cx="2743200" cy="32004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36608" y="6217920"/>
            <a:ext cx="2752344" cy="32004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48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PROJET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Data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325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2025 - 2026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7432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Jean Paul MALAN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321868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Guy Roger Junior GNAORE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3694176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COULIBALY Fobeh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4169664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TOURE Awa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3035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GROUPE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0972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DE8F8"/>
                </a:solidFill>
                <a:latin typeface="Calibri"/>
              </a:rPr>
              <a:t>Prediction de 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16916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Consommation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4231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227A"/>
                </a:solidFill>
                <a:latin typeface="Calibri"/>
              </a:rPr>
              <a:t>Energetique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4290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DE8F8"/>
                </a:solidFill>
                <a:latin typeface="Calibri"/>
              </a:rPr>
              <a:t>Dashboard interactif | 6 modeles ML | SHAP | Anomalies | Clustering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88620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Dataset : UCI Appliances Energy Prediction | 19 735 obs. | 10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Contexte &amp;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Pourquoi predire la consommation electrique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3566160" cy="2926080"/>
          </a:xfrm>
          <a:prstGeom prst="rect">
            <a:avLst/>
          </a:prstGeom>
          <a:solidFill>
            <a:srgbClr val="F8F4FF"/>
          </a:solidFill>
          <a:ln w="2540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3566160" cy="347472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1673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Enjeu energetique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78308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La consommation residentielle represente 30 % de l'energie mondiale.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Optimiser l'usage permet des economies significatives et reduit l'empreinte carbone.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1280160"/>
            <a:ext cx="3566160" cy="2926080"/>
          </a:xfrm>
          <a:prstGeom prst="rect">
            <a:avLst/>
          </a:prstGeom>
          <a:solidFill>
            <a:srgbClr val="F8F4FF"/>
          </a:solidFill>
          <a:ln w="25400">
            <a:solidFill>
              <a:srgbClr val="D42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280160"/>
            <a:ext cx="3566160" cy="347472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1673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Objectif du projet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178308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Construire un modele ML capable de predire la consommation (Wh) des appareils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electriques a partir de capteurs internes et de donnees meteorologiques.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0456" y="1280160"/>
            <a:ext cx="3566160" cy="2926080"/>
          </a:xfrm>
          <a:prstGeom prst="rect">
            <a:avLst/>
          </a:prstGeom>
          <a:solidFill>
            <a:srgbClr val="F8F4FF"/>
          </a:solidFill>
          <a:ln w="25400">
            <a:solidFill>
              <a:srgbClr val="F1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0456" y="1280160"/>
            <a:ext cx="3566160" cy="347472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31673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Approche adoptee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178308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Feature engineering avance, 6 modeles compares, validation croisee temporelle,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interpretabilite SHAP et dashboard interactif Streamlit deploye en ligne.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Dataset UCI Appliances Energy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Maison en Belgique | Janv. - Mai 2016 | Frequence 10 minutes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27048"/>
            <a:ext cx="3383279" cy="1056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7B2FBE"/>
                </a:solidFill>
                <a:latin typeface="Calibri"/>
              </a:rPr>
              <a:t>19 735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31059"/>
            <a:ext cx="3383279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5B8A"/>
                </a:solidFill>
                <a:latin typeface="Calibri"/>
              </a:rPr>
              <a:t>Observations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41732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7" y="1527048"/>
            <a:ext cx="3383279" cy="1056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227A"/>
                </a:solidFill>
                <a:latin typeface="Calibri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7" y="2531059"/>
            <a:ext cx="3383279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5B8A"/>
                </a:solidFill>
                <a:latin typeface="Calibri"/>
              </a:rPr>
              <a:t>Variables explicatives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41732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527048"/>
            <a:ext cx="3383279" cy="1056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15A24"/>
                </a:solidFill>
                <a:latin typeface="Calibri"/>
              </a:rPr>
              <a:t>10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531059"/>
            <a:ext cx="3383279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5B8A"/>
                </a:solidFill>
                <a:latin typeface="Calibri"/>
              </a:rPr>
              <a:t>Frequence de mesure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0332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813048"/>
            <a:ext cx="3383279" cy="1056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7B2FBE"/>
                </a:solidFill>
                <a:latin typeface="Calibri"/>
              </a:rPr>
              <a:t>97.7 Wh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17059"/>
            <a:ext cx="3383279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5B8A"/>
                </a:solidFill>
                <a:latin typeface="Calibri"/>
              </a:rPr>
              <a:t>Consommation moyenne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1688" y="370332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7" y="3813048"/>
            <a:ext cx="3383279" cy="1056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227A"/>
                </a:solidFill>
                <a:latin typeface="Calibri"/>
              </a:rPr>
              <a:t>10 - 1080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817059"/>
            <a:ext cx="3383279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5B8A"/>
                </a:solidFill>
                <a:latin typeface="Calibri"/>
              </a:rPr>
              <a:t>Plage cible (Wh)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0456" y="370332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3813048"/>
            <a:ext cx="3383279" cy="1056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15A24"/>
                </a:solidFill>
                <a:latin typeface="Calibri"/>
              </a:rPr>
              <a:t>5 mois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817059"/>
            <a:ext cx="3383279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5B8A"/>
                </a:solidFill>
                <a:latin typeface="Calibri"/>
              </a:rPr>
              <a:t>Periode couverte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Methodologie — Pipeline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De la donnee brute a la prediction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4416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325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Chargement &amp; nettoyage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673352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Lecture CSV, suppression rv1/rv2/lights, tri chronologique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50008"/>
            <a:ext cx="384048" cy="38404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6829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35000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697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Lags H-1/H-2/H-6/J-1/J-7, rolling 6h/24h, encodage cyclique heure/jour/mois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74136"/>
            <a:ext cx="384048" cy="38404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92424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3741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Split chronologique 80/20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721608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Train : Jan - Avr 2016  |  Test : Avr - Mai 2016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1655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3982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Entrainement 6 modeles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457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Lin. Reg., Ridge, Lasso, SVR, Random Forest, Gradient Boosting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422392"/>
            <a:ext cx="384048" cy="38404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44068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54223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Evaluation &amp; SHAP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5769864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R², RMSE, MAE, MAPE + validation croisee TimeSeriesSplit 5 folds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1280160"/>
            <a:ext cx="4846320" cy="521208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Les 6 modeles compares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1874519"/>
            <a:ext cx="109728" cy="347472"/>
          </a:xfrm>
          <a:prstGeom prst="rect">
            <a:avLst/>
          </a:prstGeom>
          <a:solidFill>
            <a:srgbClr val="6B5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9792" y="190195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2E"/>
                </a:solidFill>
                <a:latin typeface="Calibri"/>
              </a:rPr>
              <a:t>Regression Lineaire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2578608"/>
            <a:ext cx="109728" cy="347472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792" y="260604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2E"/>
                </a:solidFill>
                <a:latin typeface="Calibri"/>
              </a:rPr>
              <a:t>Ridge (L2)  — alpha=100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69480" y="3282696"/>
            <a:ext cx="109728" cy="347472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79792" y="3310128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2E"/>
                </a:solidFill>
                <a:latin typeface="Calibri"/>
              </a:rPr>
              <a:t>Lasso (L1)  — alpha=0.1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69480" y="3986783"/>
            <a:ext cx="109728" cy="347472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9792" y="4014216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2E"/>
                </a:solidFill>
                <a:latin typeface="Calibri"/>
              </a:rPr>
              <a:t>SVR  — RBF, C=100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4690872"/>
            <a:ext cx="109728" cy="347472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79792" y="471830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2E"/>
                </a:solidFill>
                <a:latin typeface="Calibri"/>
              </a:rPr>
              <a:t>Random Forest  — 100 arbres, depth=12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69480" y="5394960"/>
            <a:ext cx="109728" cy="347472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79792" y="542239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2E"/>
                </a:solidFill>
                <a:latin typeface="Calibri"/>
              </a:rPr>
              <a:t>Gradient Boosting  — 300 est., lr=0.1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Resultats — Comparaison des 6 modeles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Jeu de test chronologique (20 % des donnees — Avr./Mai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2523744" cy="41148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1380744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Modele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325880"/>
            <a:ext cx="1060704" cy="41148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79" y="1380744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325880"/>
            <a:ext cx="1243584" cy="41148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59" y="1380744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RMSE (Wh)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325880"/>
            <a:ext cx="1243584" cy="41148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380744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MAE (Wh)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325880"/>
            <a:ext cx="1243584" cy="41148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380744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MAPE (%)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737360"/>
            <a:ext cx="2523744" cy="54864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847088"/>
            <a:ext cx="24323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0A2E"/>
                </a:solidFill>
                <a:latin typeface="Calibri"/>
              </a:rPr>
              <a:t>Ridge (L2)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1737360"/>
            <a:ext cx="1060704" cy="54864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44368" y="1847088"/>
            <a:ext cx="969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2FBE"/>
                </a:solidFill>
                <a:latin typeface="Calibri"/>
              </a:rPr>
              <a:t>0.548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1737360"/>
            <a:ext cx="1243584" cy="54864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1648" y="184708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0A2E"/>
                </a:solidFill>
                <a:latin typeface="Calibri"/>
              </a:rPr>
              <a:t>65.3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1737360"/>
            <a:ext cx="1243584" cy="54864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21808" y="184708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0A2E"/>
                </a:solidFill>
                <a:latin typeface="Calibri"/>
              </a:rPr>
              <a:t>43.1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1737360"/>
            <a:ext cx="1243584" cy="54864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184708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0A2E"/>
                </a:solidFill>
                <a:latin typeface="Calibri"/>
              </a:rPr>
              <a:t>38.2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2331720"/>
            <a:ext cx="252374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2441448"/>
            <a:ext cx="24323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Gradient Boosting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331720"/>
            <a:ext cx="106070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44368" y="2441448"/>
            <a:ext cx="969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0.531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233172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41648" y="244144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66.8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7800" y="233172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21808" y="244144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44.8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233172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244144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39.5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926080"/>
            <a:ext cx="252374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4048" y="3035808"/>
            <a:ext cx="24323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Random Forest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360" y="2926080"/>
            <a:ext cx="106070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035808"/>
            <a:ext cx="969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0.524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2926080"/>
            <a:ext cx="124358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1648" y="303580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67.4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2926080"/>
            <a:ext cx="124358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21808" y="303580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45.2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2926080"/>
            <a:ext cx="124358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8" y="303580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40.1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3520440"/>
            <a:ext cx="252374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048" y="3630168"/>
            <a:ext cx="24323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Lasso (L1)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80360" y="3520440"/>
            <a:ext cx="106070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44368" y="3630168"/>
            <a:ext cx="969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0.521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7639" y="352044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41648" y="363016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67.7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57800" y="352044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21808" y="363016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45.5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37960" y="352044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363016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4114800"/>
            <a:ext cx="252374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048" y="4224528"/>
            <a:ext cx="24323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SVR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80360" y="4114800"/>
            <a:ext cx="106070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44368" y="4224528"/>
            <a:ext cx="969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0.498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77639" y="4114800"/>
            <a:ext cx="124358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41648" y="422452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69.1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4114800"/>
            <a:ext cx="124358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21808" y="422452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46.8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7960" y="4114800"/>
            <a:ext cx="1243584" cy="54864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1968" y="422452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41.2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4709160"/>
            <a:ext cx="252374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4048" y="4818888"/>
            <a:ext cx="24323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Regression Lineaire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80360" y="4709160"/>
            <a:ext cx="106070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44368" y="4818888"/>
            <a:ext cx="969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0.482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77639" y="470916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41648" y="481888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70.1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57800" y="470916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21808" y="481888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47.5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37960" y="4709160"/>
            <a:ext cx="1243584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1968" y="4818888"/>
            <a:ext cx="11521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B8A"/>
                </a:solidFill>
                <a:latin typeface="Calibri"/>
              </a:rPr>
              <a:t>42.0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1325880"/>
            <a:ext cx="5852160" cy="484632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Meilleur modele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18288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7B2FBE"/>
                </a:solidFill>
                <a:latin typeface="Calibri"/>
              </a:rPr>
              <a:t>Ridge (L2)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3640" y="2514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227A"/>
                </a:solidFill>
                <a:latin typeface="Calibri"/>
              </a:rPr>
              <a:t>R² = 0.548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9360" y="320040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6B5B8A"/>
                </a:solidFill>
                <a:latin typeface="Calibri"/>
              </a:rPr>
              <a:t>Un R² de 0.54 est conforme a la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6B5B8A"/>
                </a:solidFill>
                <a:latin typeface="Calibri"/>
              </a:rPr>
              <a:t>litterature scientifique sur ce dataset.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6B5B8A"/>
                </a:solidFill>
                <a:latin typeface="Calibri"/>
              </a:rPr>
              <a:t>La consommation depend du comportement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6B5B8A"/>
                </a:solidFill>
                <a:latin typeface="Calibri"/>
              </a:rPr>
              <a:t>humain — bruit irreductible par definition.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5394960"/>
            <a:ext cx="5394960" cy="50292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63640" y="54406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RMSE = 65.3 Wh   |   MAE = 43.1 Wh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Validation Croisee Temporelle — TimeSeriesSplit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5 folds chronologiques : entrainer sur le passe, tester sur le futur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Principe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1371600" cy="45720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FBE"/>
                </a:solidFill>
                <a:latin typeface="Calibri"/>
              </a:rPr>
              <a:t>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39" y="1737360"/>
            <a:ext cx="914400" cy="4572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2807" y="182880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184708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5B8A"/>
                </a:solidFill>
                <a:latin typeface="Calibri"/>
              </a:rPr>
              <a:t>Fold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965960" cy="45720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51760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FBE"/>
                </a:solidFill>
                <a:latin typeface="Calibri"/>
              </a:rPr>
              <a:t>Train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560320"/>
            <a:ext cx="914400" cy="4572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265176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5B8A"/>
                </a:solidFill>
                <a:latin typeface="Calibri"/>
              </a:rPr>
              <a:t>Fold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83280"/>
            <a:ext cx="2560320" cy="45720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74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FBE"/>
                </a:solidFill>
                <a:latin typeface="Calibri"/>
              </a:rPr>
              <a:t>Train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59" y="3383280"/>
            <a:ext cx="914400" cy="45720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1527" y="347472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736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5B8A"/>
                </a:solidFill>
                <a:latin typeface="Calibri"/>
              </a:rPr>
              <a:t>Fold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06240"/>
            <a:ext cx="3154680" cy="45720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97679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FBE"/>
                </a:solidFill>
                <a:latin typeface="Calibri"/>
              </a:rPr>
              <a:t>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4206240"/>
            <a:ext cx="914400" cy="4572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5888" y="4297679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43159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5B8A"/>
                </a:solidFill>
                <a:latin typeface="Calibri"/>
              </a:rPr>
              <a:t>Fold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29200"/>
            <a:ext cx="3749039" cy="45720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12064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FBE"/>
                </a:solidFill>
                <a:latin typeface="Calibri"/>
              </a:rPr>
              <a:t>Train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79" y="5029200"/>
            <a:ext cx="914400" cy="4572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0248" y="51206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51389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5B8A"/>
                </a:solidFill>
                <a:latin typeface="Calibri"/>
              </a:rPr>
              <a:t>Fold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R² moyen par modele (5 folds)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1783080"/>
            <a:ext cx="4447641" cy="438912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1856231"/>
            <a:ext cx="435620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Ridge (L2)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39881" y="185623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0.512  ± 0.031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496312"/>
            <a:ext cx="4326026" cy="438912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2569464"/>
            <a:ext cx="42345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Gradient Boosting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18266" y="256946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0.498  ± 0.038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209544"/>
            <a:ext cx="4265218" cy="438912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282696"/>
            <a:ext cx="417377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Random Forest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57458" y="32826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0.491  ± 0.042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922776"/>
            <a:ext cx="4230471" cy="438912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3995928"/>
            <a:ext cx="41390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Lasso (L1)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2711" y="3995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0.487  ± 0.035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636008"/>
            <a:ext cx="4039362" cy="438912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4709160"/>
            <a:ext cx="394792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SVR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1602" y="47091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0.465  ± 0.044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5349240"/>
            <a:ext cx="3917746" cy="438912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5422392"/>
            <a:ext cx="382630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Reg. Lineaire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9986" y="54223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0.451  ± 0.040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Interpretabilite — Analyse SHAP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SHapley Additive exPlanations : contribution de chaque variable a la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Principe SHAP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Chaque valeur SHAP mesure la contribution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d'une variable a une prediction individuelle.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SHAP &gt; 0  =&gt;  augmente la prediction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SHAP &lt; 0  =&gt;  diminue la prediction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Calcule sur 500 observations du jeu de test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0A2E"/>
                </a:solidFill>
                <a:latin typeface="Calibri"/>
              </a:rPr>
              <a:t>avec TreeExplainer (modeles arborescents).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Top 8 variables les plus influentes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3196742" cy="38404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8126" y="18562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837943"/>
            <a:ext cx="312359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conso_H_1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19334" y="1856231"/>
            <a:ext cx="185988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Conso. 10 min precedente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395728"/>
            <a:ext cx="2710281" cy="38404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1665" y="24688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450592"/>
            <a:ext cx="263712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rolling_6h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2873" y="2468880"/>
            <a:ext cx="234635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Moy. glissante 6h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008376"/>
            <a:ext cx="2258568" cy="38404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59952" y="308152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3063240"/>
            <a:ext cx="2185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conso_J_1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59" y="3081528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Conso. hier meme heure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621024"/>
            <a:ext cx="1667865" cy="38404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9249" y="369417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3675887"/>
            <a:ext cx="159471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T_out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0457" y="3694176"/>
            <a:ext cx="338876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Temperature exterieure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233672"/>
            <a:ext cx="1424635" cy="38404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019" y="43068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4288536"/>
            <a:ext cx="13514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hour_sin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7227" y="4306824"/>
            <a:ext cx="36319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Heure (cyclique)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46320"/>
            <a:ext cx="1146657" cy="38404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48041" y="491947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4901183"/>
            <a:ext cx="107350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RH_out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9249" y="4919472"/>
            <a:ext cx="390997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Humidite 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458968"/>
            <a:ext cx="938174" cy="38404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39558" y="553212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7376" y="5513832"/>
            <a:ext cx="86502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is_weekend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0766" y="5532120"/>
            <a:ext cx="411845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Week-end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6071616"/>
            <a:ext cx="764438" cy="38404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5822" y="61447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0A2E"/>
                </a:solidFill>
                <a:latin typeface="Calibri"/>
              </a:rPr>
              <a:t>0.22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6126480"/>
            <a:ext cx="6912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Tdewpoint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87030" y="6144768"/>
            <a:ext cx="42921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5B8A"/>
                </a:solidFill>
                <a:latin typeface="Calibri"/>
              </a:rPr>
              <a:t>Pt de rosee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Detection d'Anomalies &amp; Clustering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Analyse exploratoire de la consommation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00" cy="50292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Detection d'Anomalies — Seuil 2-sigma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5486400" cy="54864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BE"/>
                </a:solidFill>
                <a:latin typeface="Calibri"/>
              </a:rPr>
              <a:t>Methode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92024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Residus &gt; 2 ecarts-types (|e| &gt; 2*sigma)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334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BE"/>
                </a:solidFill>
                <a:latin typeface="Calibri"/>
              </a:rPr>
              <a:t>Seuil par defaut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334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Ajustable via slider (1.5 a 3.0)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46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BE"/>
                </a:solidFill>
                <a:latin typeface="Calibri"/>
              </a:rPr>
              <a:t>Taux detecete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46704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~5 a 8 % des observations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59935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BE"/>
                </a:solidFill>
                <a:latin typeface="Calibri"/>
              </a:rP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059935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Pics inattendus ou chutes brusques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731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BE"/>
                </a:solidFill>
                <a:latin typeface="Calibri"/>
              </a:rPr>
              <a:t>Utilite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773168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Detection pannes, comportements atypiques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280160"/>
            <a:ext cx="5577840" cy="50292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0A2E"/>
                </a:solidFill>
                <a:latin typeface="Calibri"/>
              </a:rPr>
              <a:t>Clustering K-Means — Profils journaliers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737360"/>
            <a:ext cx="5577840" cy="54864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37960" y="1965960"/>
            <a:ext cx="320040" cy="50292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19842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BE"/>
                </a:solidFill>
                <a:latin typeface="Calibri"/>
              </a:rPr>
              <a:t>Cluster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240279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Consommation faible &amp; stable (nuits, absences)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990088"/>
            <a:ext cx="320040" cy="50292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0083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227A"/>
                </a:solidFill>
                <a:latin typeface="Calibri"/>
              </a:rPr>
              <a:t>Cluster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644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Matinee active — pic au lever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37960" y="4014216"/>
            <a:ext cx="320040" cy="50292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403250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5A24"/>
                </a:solidFill>
                <a:latin typeface="Calibri"/>
              </a:rPr>
              <a:t>Cluster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28853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Soiree intense — peak 18h-22h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7960" y="5038344"/>
            <a:ext cx="320040" cy="50292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5056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BE"/>
                </a:solidFill>
                <a:latin typeface="Calibri"/>
              </a:rPr>
              <a:t>Cluster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531266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0A2E"/>
                </a:solidFill>
                <a:latin typeface="Calibri"/>
              </a:rPr>
              <a:t>Weekend — profil etale sur la journee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4062984" cy="10972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2984" y="6748272"/>
            <a:ext cx="4062984" cy="10972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5968" y="6748272"/>
            <a:ext cx="4062984" cy="10972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0A2E"/>
                </a:solidFill>
                <a:latin typeface="Calibri"/>
              </a:rPr>
              <a:t>Dashboard Interactif — Streamlit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955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B8A"/>
                </a:solidFill>
                <a:latin typeface="Calibri"/>
              </a:rPr>
              <a:t>8 onglets | Deploye en ligne | Rapport PDF integre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201168" cy="1143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35331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BE"/>
                </a:solidFill>
                <a:latin typeface="Calibri"/>
              </a:rPr>
              <a:t>Temporel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719072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Serie temporelle, profils horaires/hebdo, heatmap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280160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D42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280160"/>
            <a:ext cx="201168" cy="11430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135331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227A"/>
                </a:solidFill>
                <a:latin typeface="Calibri"/>
              </a:rPr>
              <a:t>Predictions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1719072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Predictions vs reel, residus, scatter interactif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606039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F1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606039"/>
            <a:ext cx="201168" cy="114300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2679191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5A24"/>
                </a:solidFill>
                <a:latin typeface="Calibri"/>
              </a:rPr>
              <a:t>Anomalies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044951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Detection 2-sigma, carte des anomalies, statistiques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2606039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6520" y="2606039"/>
            <a:ext cx="201168" cy="1143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39128" y="2679191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BE"/>
                </a:solidFill>
                <a:latin typeface="Calibri"/>
              </a:rPr>
              <a:t>Clustering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3044951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K-Means 4 profils journaliers, radar, scatter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D42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931920"/>
            <a:ext cx="201168" cy="11430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400507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227A"/>
                </a:solidFill>
                <a:latin typeface="Calibri"/>
              </a:rPr>
              <a:t>Modeles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4370831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Comparaison 6 modeles, SHAP, validation croisee, radar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931920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F1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6520" y="3931920"/>
            <a:ext cx="201168" cy="114300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39128" y="400507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5A24"/>
                </a:solidFill>
                <a:latin typeface="Calibri"/>
              </a:rPr>
              <a:t>Simulateur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9128" y="4370831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Prediction instantanee, gauge, comparaison 5 modeles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7B2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57800"/>
            <a:ext cx="201168" cy="1143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533095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BE"/>
                </a:solidFill>
                <a:latin typeface="Calibri"/>
              </a:rPr>
              <a:t>Rapport PDF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" y="5696712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Generation PDF 8 pages en 1 clic, telechargeable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5257800"/>
            <a:ext cx="5623560" cy="1143000"/>
          </a:xfrm>
          <a:prstGeom prst="rect">
            <a:avLst/>
          </a:prstGeom>
          <a:solidFill>
            <a:srgbClr val="F8F4FF"/>
          </a:solidFill>
          <a:ln w="19050">
            <a:solidFill>
              <a:srgbClr val="D42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6520" y="5257800"/>
            <a:ext cx="201168" cy="11430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39128" y="533095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227A"/>
                </a:solidFill>
                <a:latin typeface="Calibri"/>
              </a:rPr>
              <a:t>Contexte Senelec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9128" y="5696712"/>
            <a:ext cx="5239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5B8A"/>
                </a:solidFill>
                <a:latin typeface="Calibri"/>
              </a:rPr>
              <a:t>Donnees Senelec 2022-2024, mix energetique, tendances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2984" cy="2286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2984" y="0"/>
            <a:ext cx="4062984" cy="2286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5968" y="0"/>
            <a:ext cx="4977384" cy="22860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 &amp; Perspectives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657600" cy="4572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Acquis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874519"/>
            <a:ext cx="201168" cy="20116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856231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R² = 0.548 (Ridge) — conforme litterature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578608"/>
            <a:ext cx="201168" cy="20116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5603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6 modeles ML compares objectivement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282696"/>
            <a:ext cx="201168" cy="20116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26440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Validation croisee TimeSeriesSplit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3986783"/>
            <a:ext cx="201168" cy="20116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96849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SHAP : variables lag les + influentes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4690872"/>
            <a:ext cx="201168" cy="20116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672583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Dashboard Streamlit deploye en ligne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" y="5394960"/>
            <a:ext cx="201168" cy="201168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37667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Detection anomalies automatique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1280160"/>
            <a:ext cx="3657600" cy="457200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133502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Limites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874519"/>
            <a:ext cx="201168" cy="20116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1856231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Dataset ancienne (2016, Belgique)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6552" y="2578608"/>
            <a:ext cx="201168" cy="20116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25603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Comportement humain = bruit irreductible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6552" y="3282696"/>
            <a:ext cx="201168" cy="20116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0872" y="326440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Pas de donnees temps reel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6552" y="3986783"/>
            <a:ext cx="201168" cy="201168"/>
          </a:xfrm>
          <a:prstGeom prst="rect">
            <a:avLst/>
          </a:prstGeom>
          <a:solidFill>
            <a:srgbClr val="D42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6849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SVR lent sur grands datasets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1280160"/>
            <a:ext cx="3657600" cy="457200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7" y="133502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Perspectives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02752" y="1874519"/>
            <a:ext cx="201168" cy="20116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77072" y="1856231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LSTM / modeles sequentiels (deep learning)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02752" y="2578608"/>
            <a:ext cx="201168" cy="20116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25603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Donnees Senelec temps reel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02752" y="3282696"/>
            <a:ext cx="201168" cy="20116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77072" y="326440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Re-entrainement mensuel automatise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752" y="3986783"/>
            <a:ext cx="201168" cy="20116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77072" y="396849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Optimisation hyperparametres (GridSearch)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02752" y="4690872"/>
            <a:ext cx="201168" cy="201168"/>
          </a:xfrm>
          <a:prstGeom prst="rect">
            <a:avLst/>
          </a:prstGeom>
          <a:solidFill>
            <a:srgbClr val="F1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77072" y="4672583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DE8F8"/>
                </a:solidFill>
                <a:latin typeface="Calibri"/>
              </a:rPr>
              <a:t>Extension a d'autres batiments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37336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Groupe 6  |  Jean Paul MALAN   Guy Roger Junior GNAORE   COULIBALY Fobeh   TOURE Awa  |  Data Analyst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