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50208" y="6217920"/>
            <a:ext cx="2743200" cy="32004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93408" y="6217920"/>
            <a:ext cx="2743200" cy="32004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36608" y="6217920"/>
            <a:ext cx="2752344" cy="3200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48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PROJET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2025 - 2026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743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Jean Paul MALAN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Guy Roger Junior GNAORE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6941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COULIBALY Fobeh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41696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TOURE Awa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303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GROUPE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DE8F8"/>
                </a:solidFill>
                <a:latin typeface="Calibri"/>
              </a:rPr>
              <a:t>Prediction de 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6916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Consommation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23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D4227A"/>
                </a:solidFill>
                <a:latin typeface="Calibri"/>
              </a:rPr>
              <a:t>Energetique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429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8F8"/>
                </a:solidFill>
                <a:latin typeface="Calibri"/>
              </a:rPr>
              <a:t>Dashboard interactif | 4 modeles ML | SHAP | Anomalies |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88620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Dataset enrichi | 3 098 obs. | Horaire | Residentiel / Commercial / Industriel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6748272"/>
            <a:ext cx="4062984" cy="10972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6748272"/>
            <a:ext cx="4062984" cy="10972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A2E"/>
                </a:solidFill>
                <a:latin typeface="Calibri"/>
              </a:rPr>
              <a:t>Contexte &amp; Problematique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B8A"/>
                </a:solidFill>
                <a:latin typeface="Calibri"/>
              </a:rPr>
              <a:t>Pourquoi predire la consommation electrique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3566160" cy="2926080"/>
          </a:xfrm>
          <a:prstGeom prst="rect">
            <a:avLst/>
          </a:prstGeom>
          <a:solidFill>
            <a:srgbClr val="F8F4FF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3566160" cy="34747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16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Enjeu energetique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783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La consommation residentielle represente 30 % de l'energie mondiale.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Optimiser l'usage permet des economies significatives et reduit l'empreinte carbone.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280160"/>
            <a:ext cx="3566160" cy="2926080"/>
          </a:xfrm>
          <a:prstGeom prst="rect">
            <a:avLst/>
          </a:prstGeom>
          <a:solidFill>
            <a:srgbClr val="F8F4FF"/>
          </a:solidFill>
          <a:ln w="25400">
            <a:solidFill>
              <a:srgbClr val="D42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280160"/>
            <a:ext cx="3566160" cy="347472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316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Objectif du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1783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Construire un modele ML capable de predire la consommation (kWh) des appareils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electriques a partir de capteurs internes et de donnees meteorologiques.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456" y="1280160"/>
            <a:ext cx="3566160" cy="2926080"/>
          </a:xfrm>
          <a:prstGeom prst="rect">
            <a:avLst/>
          </a:prstGeom>
          <a:solidFill>
            <a:srgbClr val="F8F4FF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1280160"/>
            <a:ext cx="3566160" cy="347472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316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Approche adoptee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783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Feature engineering avance, 4 modeles compares, validation croisee temporelle,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interpretabilite SHAP et dashboard interactif Streamlit deploye en ligne. Types : Residentiel, Commercial, Industriel.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6748272"/>
            <a:ext cx="4062984" cy="10972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6748272"/>
            <a:ext cx="4062984" cy="10972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A2E"/>
                </a:solidFill>
                <a:latin typeface="Calibri"/>
              </a:rPr>
              <a:t>Dataset Enrichi — Prediction Energetique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B8A"/>
                </a:solidFill>
                <a:latin typeface="Calibri"/>
              </a:rPr>
              <a:t>3 types de batiments | Janv. - Mai 2016 | Frequence horaire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3383279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B2FBE"/>
                </a:solidFill>
                <a:latin typeface="Calibri"/>
              </a:rPr>
              <a:t>3 098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31059"/>
            <a:ext cx="3383279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B8A"/>
                </a:solidFill>
                <a:latin typeface="Calibri"/>
              </a:rPr>
              <a:t>Observations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7" y="1527048"/>
            <a:ext cx="3383279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227A"/>
                </a:solidFill>
                <a:latin typeface="Calibr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7" y="2531059"/>
            <a:ext cx="3383279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B8A"/>
                </a:solidFill>
                <a:latin typeface="Calibri"/>
              </a:rPr>
              <a:t>Variables + encodage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417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527048"/>
            <a:ext cx="3383279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15A24"/>
                </a:solidFill>
                <a:latin typeface="Calibri"/>
              </a:rPr>
              <a:t>Horaire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31059"/>
            <a:ext cx="3383279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B8A"/>
                </a:solidFill>
                <a:latin typeface="Calibri"/>
              </a:rPr>
              <a:t>Frequence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13048"/>
            <a:ext cx="3383279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B2FBE"/>
                </a:solidFill>
                <a:latin typeface="Calibri"/>
              </a:rPr>
              <a:t>0.581 kWh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17059"/>
            <a:ext cx="3383279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B8A"/>
                </a:solidFill>
                <a:latin typeface="Calibri"/>
              </a:rPr>
              <a:t>Conso. moyenne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3703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7" y="3813048"/>
            <a:ext cx="3383279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227A"/>
                </a:solidFill>
                <a:latin typeface="Calibri"/>
              </a:rPr>
              <a:t>0.17 - 3.65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4817059"/>
            <a:ext cx="3383279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B8A"/>
                </a:solidFill>
                <a:latin typeface="Calibri"/>
              </a:rPr>
              <a:t>Plage cible (kWh)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37033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3813048"/>
            <a:ext cx="3383279" cy="1056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15A24"/>
                </a:solidFill>
                <a:latin typeface="Calibri"/>
              </a:rPr>
              <a:t>5 mois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817059"/>
            <a:ext cx="3383279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B8A"/>
                </a:solidFill>
                <a:latin typeface="Calibri"/>
              </a:rPr>
              <a:t>Periode couverte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6748272"/>
            <a:ext cx="4062984" cy="10972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6748272"/>
            <a:ext cx="4062984" cy="10972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A2E"/>
                </a:solidFill>
                <a:latin typeface="Calibri"/>
              </a:rPr>
              <a:t>Methodologie —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B8A"/>
                </a:solidFill>
                <a:latin typeface="Calibri"/>
              </a:rPr>
              <a:t>De la donnee brute a la 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441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325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Chargement &amp; nettoyage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67335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Lecture CSV enrichi, encodage Type_batiment, tri chronologique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0008"/>
            <a:ext cx="384048" cy="38404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682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350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697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Lags H-1/H-2/H-6/J-1/J-7, rolling 6h/24h, encodage cyclique, one-hot Type_batiment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9242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3741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Split chronologique 80/20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7216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Train : Jan - Avr 2016  |  Test : Avr - Mai 2016 (3 098 obs. horaires)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98264"/>
            <a:ext cx="384048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1655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3982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Entrainement 4 modeles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7457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Lin. Reg., Ridge (L2), Random Forest, Gradient Boosting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22392"/>
            <a:ext cx="384048" cy="38404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4068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4223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Evaluation &amp; SHAP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76986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R2, RMSE, MAE, MAPE (kWh) + validation croisee TimeSeriesSplit 5 folds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280160"/>
            <a:ext cx="4846320" cy="521208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Les 4 modeles compares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1874519"/>
            <a:ext cx="109728" cy="347472"/>
          </a:xfrm>
          <a:prstGeom prst="rect">
            <a:avLst/>
          </a:prstGeom>
          <a:solidFill>
            <a:srgbClr val="6B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2" y="19019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A2E"/>
                </a:solidFill>
                <a:latin typeface="Calibri"/>
              </a:rPr>
              <a:t>Regression Lineaire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2578608"/>
            <a:ext cx="109728" cy="34747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26060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A2E"/>
                </a:solidFill>
                <a:latin typeface="Calibri"/>
              </a:rPr>
              <a:t>Ridge (L2)  — alpha=100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3282696"/>
            <a:ext cx="109728" cy="34747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33101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A2E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3986783"/>
            <a:ext cx="109728" cy="347472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2" y="40142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A2E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4690872"/>
            <a:ext cx="109728" cy="347472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47183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A2E"/>
                </a:solidFill>
                <a:latin typeface="Calibri"/>
              </a:rPr>
              <a:t>Random Forest  — 100 arbres, depth=12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5394960"/>
            <a:ext cx="109728" cy="347472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9792" y="54223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A2E"/>
                </a:solidFill>
                <a:latin typeface="Calibri"/>
              </a:rPr>
              <a:t>Gradient Boosting  — 300 est., lr=0.1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6748272"/>
            <a:ext cx="4062984" cy="10972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6748272"/>
            <a:ext cx="4062984" cy="10972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A2E"/>
                </a:solidFill>
                <a:latin typeface="Calibri"/>
              </a:rPr>
              <a:t>Resultats — Comparaison des 4 modeles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B8A"/>
                </a:solidFill>
                <a:latin typeface="Calibri"/>
              </a:rPr>
              <a:t>Jeu de test chronologique (20% | 3 098 obs. horaires | unite : kWh)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523744" cy="4114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380744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325880"/>
            <a:ext cx="1060704" cy="4114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1380744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325880"/>
            <a:ext cx="1243584" cy="4114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1380744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RMSE (kWh)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325880"/>
            <a:ext cx="1243584" cy="4114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380744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MAE (kWh)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325880"/>
            <a:ext cx="1243584" cy="4114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380744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MAPE (%)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37360"/>
            <a:ext cx="2523744" cy="548640"/>
          </a:xfrm>
          <a:prstGeom prst="rect">
            <a:avLst/>
          </a:prstGeom>
          <a:solidFill>
            <a:srgbClr val="F8F4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84708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2E"/>
                </a:solidFill>
                <a:latin typeface="Calibri"/>
              </a:rPr>
              <a:t>Ridge (L2)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737360"/>
            <a:ext cx="1060704" cy="548640"/>
          </a:xfrm>
          <a:prstGeom prst="rect">
            <a:avLst/>
          </a:prstGeom>
          <a:solidFill>
            <a:srgbClr val="F8F4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1847088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Calibri"/>
              </a:rPr>
              <a:t>0.4527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1737360"/>
            <a:ext cx="1243584" cy="548640"/>
          </a:xfrm>
          <a:prstGeom prst="rect">
            <a:avLst/>
          </a:prstGeom>
          <a:solidFill>
            <a:srgbClr val="F8F4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1648" y="184708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2E"/>
                </a:solidFill>
                <a:latin typeface="Calibri"/>
              </a:rPr>
              <a:t>0.2970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1737360"/>
            <a:ext cx="1243584" cy="548640"/>
          </a:xfrm>
          <a:prstGeom prst="rect">
            <a:avLst/>
          </a:prstGeom>
          <a:solidFill>
            <a:srgbClr val="F8F4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184708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2E"/>
                </a:solidFill>
                <a:latin typeface="Calibri"/>
              </a:rPr>
              <a:t>0.1742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1737360"/>
            <a:ext cx="1243584" cy="548640"/>
          </a:xfrm>
          <a:prstGeom prst="rect">
            <a:avLst/>
          </a:prstGeom>
          <a:solidFill>
            <a:srgbClr val="F8F4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184708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2E"/>
                </a:solidFill>
                <a:latin typeface="Calibri"/>
              </a:rPr>
              <a:t>28.37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31720"/>
            <a:ext cx="252374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44144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Gradient Boosting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2331720"/>
            <a:ext cx="106070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2441448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0.3182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233172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41648" y="244144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0.3315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7800" y="233172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21808" y="244144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0.1968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33172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244144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33.63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926080"/>
            <a:ext cx="252374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303580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Random Forest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2926080"/>
            <a:ext cx="106070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44368" y="3035808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0.3966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2926080"/>
            <a:ext cx="124358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1648" y="303580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0.3118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2926080"/>
            <a:ext cx="124358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1808" y="303580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0.1847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2926080"/>
            <a:ext cx="124358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03580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31.35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520440"/>
            <a:ext cx="252374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363016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3520440"/>
            <a:ext cx="106070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44368" y="3630168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0.4491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77639" y="352044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41648" y="363016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0.2980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57800" y="352044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21808" y="363016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0.1863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60" y="352044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1968" y="363016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32.63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14800"/>
            <a:ext cx="252374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" y="422452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880360" y="4114800"/>
            <a:ext cx="106070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44368" y="4224528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3977639" y="4114800"/>
            <a:ext cx="124358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41648" y="422452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4114800"/>
            <a:ext cx="124358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21808" y="422452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6537960" y="4114800"/>
            <a:ext cx="1243584" cy="54864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01968" y="422452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709160"/>
            <a:ext cx="252374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4048" y="481888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>Regression Lineaire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80360" y="4709160"/>
            <a:ext cx="106070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44368" y="4818888"/>
            <a:ext cx="969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3977639" y="470916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41648" y="481888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5257800" y="470916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21808" y="481888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6537960" y="4709160"/>
            <a:ext cx="124358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01968" y="4818888"/>
            <a:ext cx="11521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0" y="1325880"/>
            <a:ext cx="5852160" cy="484632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Meilleur modele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1828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2FBE"/>
                </a:solidFill>
                <a:latin typeface="Calibri"/>
              </a:rPr>
              <a:t>Ridge (L2)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3640" y="2514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227A"/>
                </a:solidFill>
                <a:latin typeface="Calibri"/>
              </a:rPr>
              <a:t>R² = 0.4527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60" y="320040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6B5B8A"/>
                </a:solidFill>
                <a:latin typeface="Calibri"/>
              </a:rPr>
              <a:t>Un R2 de 0.45 est attendu sur ce type de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6B5B8A"/>
                </a:solidFill>
                <a:latin typeface="Calibri"/>
              </a:rPr>
              <a:t>probleme (comportement multi-batiments).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6B5B8A"/>
                </a:solidFill>
                <a:latin typeface="Calibri"/>
              </a:rPr>
              <a:t>La consommation depend du type de batiment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6B5B8A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6263640" y="5394960"/>
            <a:ext cx="5394960" cy="5029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54406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RMSE = 0.2970 kWh   |   MAE = 0.1742 kWh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6748272"/>
            <a:ext cx="4062984" cy="10972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6748272"/>
            <a:ext cx="4062984" cy="10972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A2E"/>
                </a:solidFill>
                <a:latin typeface="Calibri"/>
              </a:rPr>
              <a:t>Validation Croisee Temporelle — TimeSeriesSplit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B8A"/>
                </a:solidFill>
                <a:latin typeface="Calibri"/>
              </a:rPr>
              <a:t>5 folds chronologiques : entrainer sur le passe, tester sur le futur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Principe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1371600" cy="45720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2FBE"/>
                </a:solidFill>
                <a:latin typeface="Calibri"/>
              </a:rP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39" y="1737360"/>
            <a:ext cx="914400" cy="4572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7" y="182880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847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B8A"/>
                </a:solidFill>
                <a:latin typeface="Calibri"/>
              </a:rPr>
              <a:t>Fold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1965960" cy="45720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5176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2FBE"/>
                </a:solidFill>
                <a:latin typeface="Calibri"/>
              </a:rPr>
              <a:t>Train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560320"/>
            <a:ext cx="914400" cy="4572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265176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B8A"/>
                </a:solidFill>
                <a:latin typeface="Calibri"/>
              </a:rPr>
              <a:t>Fold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2560320" cy="45720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74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2FBE"/>
                </a:solidFill>
                <a:latin typeface="Calibri"/>
              </a:rPr>
              <a:t>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59" y="3383280"/>
            <a:ext cx="914400" cy="45720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7" y="347472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7368" y="34930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B8A"/>
                </a:solidFill>
                <a:latin typeface="Calibri"/>
              </a:rPr>
              <a:t>Fold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3154680" cy="45720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79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2FBE"/>
                </a:solidFill>
                <a:latin typeface="Calibri"/>
              </a:rPr>
              <a:t>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4206240"/>
            <a:ext cx="914400" cy="4572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8" y="4297679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315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B8A"/>
                </a:solidFill>
                <a:latin typeface="Calibri"/>
              </a:rPr>
              <a:t>Fold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29200"/>
            <a:ext cx="3749039" cy="457200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1206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2FBE"/>
                </a:solidFill>
                <a:latin typeface="Calibri"/>
              </a:rPr>
              <a:t>Train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79" y="5029200"/>
            <a:ext cx="914400" cy="4572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0248" y="512064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51389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B8A"/>
                </a:solidFill>
                <a:latin typeface="Calibri"/>
              </a:rPr>
              <a:t>Fold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R² moyen par modele (5 folds)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783080"/>
            <a:ext cx="4447641" cy="43891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856231"/>
            <a:ext cx="435620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Ridge (L2)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39881" y="18562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0.4063  +/- 0.038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496312"/>
            <a:ext cx="4326026" cy="438912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569464"/>
            <a:ext cx="42345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Gradient Boosting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18266" y="25694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0.3456  +/- 0.042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209544"/>
            <a:ext cx="4265218" cy="438912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282696"/>
            <a:ext cx="41737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57458" y="32826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0.4083  +/- 0.035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922776"/>
            <a:ext cx="4230471" cy="43891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995928"/>
            <a:ext cx="413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Reg. Lineaire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2711" y="3995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0.3929  +/- 0.040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636008"/>
            <a:ext cx="4039362" cy="438912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709160"/>
            <a:ext cx="394792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31602" y="4709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349240"/>
            <a:ext cx="3917746" cy="438912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422392"/>
            <a:ext cx="382630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09986" y="54223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6748272"/>
            <a:ext cx="4062984" cy="10972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6748272"/>
            <a:ext cx="4062984" cy="10972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A2E"/>
                </a:solidFill>
                <a:latin typeface="Calibri"/>
              </a:rPr>
              <a:t>Interpretabilite — Analyse SHAP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B8A"/>
                </a:solidFill>
                <a:latin typeface="Calibri"/>
              </a:rPr>
              <a:t>SHapley Additive exPlanations : contribution de chaque variable a la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Principe SHAP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Chaque valeur SHAP mesure la contribution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d'une variable a une prediction individuelle.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SHAP &gt; 0  =&gt;  augmente la prediction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SHAP &lt; 0  =&gt;  diminue la prediction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Calcule sur 400 observations du jeu de test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0A2E"/>
                </a:solidFill>
                <a:latin typeface="Calibri"/>
              </a:rPr>
              <a:t>avec TreeExplainer (modeles arborescents).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Top 8 variables les plus influentes (kWh)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3196742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8126" y="18562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2E"/>
                </a:solidFill>
                <a:latin typeface="Calibri"/>
              </a:rPr>
              <a:t>0.89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837943"/>
            <a:ext cx="31235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conso_H_1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19334" y="1856231"/>
            <a:ext cx="1859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8A"/>
                </a:solidFill>
                <a:latin typeface="Calibri"/>
              </a:rPr>
              <a:t>Conso. 10 min precedente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95728"/>
            <a:ext cx="2710281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1665" y="24688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2E"/>
                </a:solidFill>
                <a:latin typeface="Calibri"/>
              </a:rPr>
              <a:t>0.72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450592"/>
            <a:ext cx="263712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rolling_6h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2873" y="2468880"/>
            <a:ext cx="23463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8A"/>
                </a:solidFill>
                <a:latin typeface="Calibri"/>
              </a:rPr>
              <a:t>Moy. glissante 6h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08376"/>
            <a:ext cx="2258568" cy="38404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9952" y="3081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2E"/>
                </a:solidFill>
                <a:latin typeface="Calibri"/>
              </a:rPr>
              <a:t>0.61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063240"/>
            <a:ext cx="2185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conso_J_1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081528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8A"/>
                </a:solidFill>
                <a:latin typeface="Calibri"/>
              </a:rPr>
              <a:t>Conso. hier meme heure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21024"/>
            <a:ext cx="1667865" cy="38404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9249" y="3694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2E"/>
                </a:solidFill>
                <a:latin typeface="Calibri"/>
              </a:rPr>
              <a:t>0.35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675887"/>
            <a:ext cx="159471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0457" y="3694176"/>
            <a:ext cx="338876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8A"/>
                </a:solidFill>
                <a:latin typeface="Calibri"/>
              </a:rPr>
              <a:t>Temperature ext. (C)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233672"/>
            <a:ext cx="1424635" cy="38404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019" y="43068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2E"/>
                </a:solidFill>
                <a:latin typeface="Calibri"/>
              </a:rPr>
              <a:t>0.28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288536"/>
            <a:ext cx="13514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hour_sin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7227" y="4306824"/>
            <a:ext cx="36319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8A"/>
                </a:solidFill>
                <a:latin typeface="Calibri"/>
              </a:rPr>
              <a:t>Heure (cyclique)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846320"/>
            <a:ext cx="1146657" cy="38404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041" y="4919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2E"/>
                </a:solidFill>
                <a:latin typeface="Calibri"/>
              </a:rPr>
              <a:t>0.21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901183"/>
            <a:ext cx="107350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Humidite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9249" y="4919472"/>
            <a:ext cx="39099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8A"/>
                </a:solidFill>
                <a:latin typeface="Calibri"/>
              </a:rPr>
              <a:t>Humidite (%)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458968"/>
            <a:ext cx="938174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39558" y="55321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2E"/>
                </a:solidFill>
                <a:latin typeface="Calibri"/>
              </a:rPr>
              <a:t>0.18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513832"/>
            <a:ext cx="86502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is_weekend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60766" y="5532120"/>
            <a:ext cx="41184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8A"/>
                </a:solidFill>
                <a:latin typeface="Calibri"/>
              </a:rPr>
              <a:t>Week-end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6071616"/>
            <a:ext cx="764438" cy="38404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5822" y="61447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A2E"/>
                </a:solidFill>
                <a:latin typeface="Calibri"/>
              </a:rPr>
              <a:t>0.14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6126480"/>
            <a:ext cx="6912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Surface/Occupants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87030" y="6144768"/>
            <a:ext cx="42921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8A"/>
                </a:solidFill>
                <a:latin typeface="Calibri"/>
              </a:rPr>
              <a:t>Surface/Occupants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6748272"/>
            <a:ext cx="4062984" cy="10972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6748272"/>
            <a:ext cx="4062984" cy="10972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A2E"/>
                </a:solidFill>
                <a:latin typeface="Calibri"/>
              </a:rPr>
              <a:t>Detection d'Anomalies &amp;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B8A"/>
                </a:solidFill>
                <a:latin typeface="Calibri"/>
              </a:rPr>
              <a:t>Analyse exploratoire de la consommation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486400" cy="50292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Detection d'Anomalies — Seuil 2-sigma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48640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Calibri"/>
              </a:rPr>
              <a:t>Methode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2024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Residus &gt; 2 ecarts-types sur les residus en kWh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Calibri"/>
              </a:rPr>
              <a:t>Seuil par defaut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334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Ajustable via slider (0.5 a 4.0 kWh)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46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Calibri"/>
              </a:rPr>
              <a:t>Taux detecete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34670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~5 % des observations du jeu de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5993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Calibri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059935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Pics inattendus ou chutes brusques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731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Calibri"/>
              </a:rPr>
              <a:t>Utilite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7731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Detection pannes, comportements atypiques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280160"/>
            <a:ext cx="5577840" cy="50292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A2E"/>
                </a:solidFill>
                <a:latin typeface="Calibri"/>
              </a:rPr>
              <a:t>Clustering K-Means — Profils journaliers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737360"/>
            <a:ext cx="5577840" cy="54864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1965960"/>
            <a:ext cx="320040" cy="5029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9842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Calibri"/>
              </a:rPr>
              <a:t>Cluster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24027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Consommation faible &amp; stable (nuits, absences)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990088"/>
            <a:ext cx="320040" cy="50292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008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227A"/>
                </a:solidFill>
                <a:latin typeface="Calibri"/>
              </a:rPr>
              <a:t>Cluster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644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Matinee active — pic au lever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4014216"/>
            <a:ext cx="320040" cy="50292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032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5A24"/>
                </a:solidFill>
                <a:latin typeface="Calibri"/>
              </a:rPr>
              <a:t>Cluster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885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Soiree intense — peak 18h-22h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5038344"/>
            <a:ext cx="320040" cy="5029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5056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Calibri"/>
              </a:rPr>
              <a:t>Cluster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3126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A2E"/>
                </a:solidFill>
                <a:latin typeface="Calibri"/>
              </a:rPr>
              <a:t>Weekend — profil etale sur la journee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6748272"/>
            <a:ext cx="4062984" cy="10972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6748272"/>
            <a:ext cx="4062984" cy="10972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A2E"/>
                </a:solidFill>
                <a:latin typeface="Calibri"/>
              </a:rPr>
              <a:t>Dashboard Interactif —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B8A"/>
                </a:solidFill>
                <a:latin typeface="Calibri"/>
              </a:rPr>
              <a:t>8 onglets | Deploye en ligne | Dataset enrichi 3 types batiments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623560" cy="1143000"/>
          </a:xfrm>
          <a:prstGeom prst="rect">
            <a:avLst/>
          </a:prstGeom>
          <a:solidFill>
            <a:srgbClr val="F8F4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01168" cy="1143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35331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  <a:latin typeface="Calibri"/>
              </a:rPr>
              <a:t>Temporel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19072"/>
            <a:ext cx="5239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Serie temporelle, profils horaires/hebdo, heatmap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280160"/>
            <a:ext cx="5623560" cy="1143000"/>
          </a:xfrm>
          <a:prstGeom prst="rect">
            <a:avLst/>
          </a:prstGeom>
          <a:solidFill>
            <a:srgbClr val="F8F4FF"/>
          </a:solidFill>
          <a:ln w="19050">
            <a:solidFill>
              <a:srgbClr val="D42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280160"/>
            <a:ext cx="201168" cy="11430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35331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227A"/>
                </a:solidFill>
                <a:latin typeface="Calibri"/>
              </a:rPr>
              <a:t>Predictions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1719072"/>
            <a:ext cx="5239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Predictions vs reel, residus, scatter interactif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06039"/>
            <a:ext cx="5623560" cy="1143000"/>
          </a:xfrm>
          <a:prstGeom prst="rect">
            <a:avLst/>
          </a:prstGeom>
          <a:solidFill>
            <a:srgbClr val="F8F4FF"/>
          </a:solidFill>
          <a:ln w="1905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06039"/>
            <a:ext cx="201168" cy="114300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679191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5A24"/>
                </a:solidFill>
                <a:latin typeface="Calibri"/>
              </a:rPr>
              <a:t>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044951"/>
            <a:ext cx="5239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Detection 2-sigma, carte des anomalies, statistiques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606039"/>
            <a:ext cx="5623560" cy="1143000"/>
          </a:xfrm>
          <a:prstGeom prst="rect">
            <a:avLst/>
          </a:prstGeom>
          <a:solidFill>
            <a:srgbClr val="F8F4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606039"/>
            <a:ext cx="201168" cy="1143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2679191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  <a:latin typeface="Calibri"/>
              </a:rPr>
              <a:t>Clustering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3044951"/>
            <a:ext cx="5239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K-Means 4 profils journaliers, radar, scatter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5623560" cy="1143000"/>
          </a:xfrm>
          <a:prstGeom prst="rect">
            <a:avLst/>
          </a:prstGeom>
          <a:solidFill>
            <a:srgbClr val="F8F4FF"/>
          </a:solidFill>
          <a:ln w="19050">
            <a:solidFill>
              <a:srgbClr val="D42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931920"/>
            <a:ext cx="201168" cy="11430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00507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227A"/>
                </a:solidFill>
                <a:latin typeface="Calibri"/>
              </a:rPr>
              <a:t>Modeles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370831"/>
            <a:ext cx="5239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Comparaison 4 modeles, SHAP, validation croisee, radar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931920"/>
            <a:ext cx="5623560" cy="1143000"/>
          </a:xfrm>
          <a:prstGeom prst="rect">
            <a:avLst/>
          </a:prstGeom>
          <a:solidFill>
            <a:srgbClr val="F8F4FF"/>
          </a:solidFill>
          <a:ln w="1905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3931920"/>
            <a:ext cx="201168" cy="114300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9128" y="400507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5A24"/>
                </a:solidFill>
                <a:latin typeface="Calibri"/>
              </a:rPr>
              <a:t>Simulateur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4370831"/>
            <a:ext cx="5239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Prediction instantanee (kWh), gauge, comparaison 4 modeles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57800"/>
            <a:ext cx="5623560" cy="1143000"/>
          </a:xfrm>
          <a:prstGeom prst="rect">
            <a:avLst/>
          </a:prstGeom>
          <a:solidFill>
            <a:srgbClr val="F8F4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57800"/>
            <a:ext cx="201168" cy="1143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33095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  <a:latin typeface="Calibri"/>
              </a:rPr>
              <a:t>Rapport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5696712"/>
            <a:ext cx="5239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Generation PDF 8 pages en 1 clic, telechargeable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5257800"/>
            <a:ext cx="5623560" cy="1143000"/>
          </a:xfrm>
          <a:prstGeom prst="rect">
            <a:avLst/>
          </a:prstGeom>
          <a:solidFill>
            <a:srgbClr val="F8F4FF"/>
          </a:solidFill>
          <a:ln w="19050">
            <a:solidFill>
              <a:srgbClr val="D42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46520" y="5257800"/>
            <a:ext cx="201168" cy="11430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9128" y="533095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227A"/>
                </a:solidFill>
                <a:latin typeface="Calibri"/>
              </a:rPr>
              <a:t>Contexte Senelec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9128" y="5696712"/>
            <a:ext cx="5239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8A"/>
                </a:solidFill>
                <a:latin typeface="Calibri"/>
              </a:rPr>
              <a:t>Donnees Senelec 2022-2024, mix energetique, tendances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2984" cy="2286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2984" y="0"/>
            <a:ext cx="4062984" cy="2286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5968" y="0"/>
            <a:ext cx="4977384" cy="22860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Acquis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874519"/>
            <a:ext cx="201168" cy="20116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56231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R2 = 0.4527 (Ridge) — dataset multi-batiments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578608"/>
            <a:ext cx="201168" cy="20116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5603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4 modeles ML compares objectivement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282696"/>
            <a:ext cx="201168" cy="20116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6440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Validation croisee TimeSeriesSplit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3986783"/>
            <a:ext cx="201168" cy="20116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96849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SHAP : lags + Temperature + Type batiment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4690872"/>
            <a:ext cx="201168" cy="20116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672583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Dashboard Streamlit deploye en ligne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5394960"/>
            <a:ext cx="201168" cy="20116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37667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Detection anomalies automatique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280160"/>
            <a:ext cx="3657600" cy="457200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13350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Limites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1874519"/>
            <a:ext cx="201168" cy="20116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1856231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Dataset 2016 — generalisation limitee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6552" y="2578608"/>
            <a:ext cx="201168" cy="20116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5603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Comportement humain = bruit irreductible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2" y="3282696"/>
            <a:ext cx="201168" cy="20116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26440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Pas de donnees temps reel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6552" y="3986783"/>
            <a:ext cx="201168" cy="201168"/>
          </a:xfrm>
          <a:prstGeom prst="rect">
            <a:avLst/>
          </a:prstGeom>
          <a:solidFill>
            <a:srgbClr val="D4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96849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Peu de donnees (3 098 obs. horaires)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13350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Perspectives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2752" y="1874519"/>
            <a:ext cx="201168" cy="20116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7072" y="1856231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LSTM / modeles sequentiels (deep learning)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02752" y="2578608"/>
            <a:ext cx="201168" cy="20116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25603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Donnees Senelec temps reel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02752" y="3282696"/>
            <a:ext cx="201168" cy="20116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7072" y="326440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Re-entrainement mensuel automatise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02752" y="3986783"/>
            <a:ext cx="201168" cy="20116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7072" y="396849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Optimisation hyperparametres (GridSearch)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02752" y="4690872"/>
            <a:ext cx="201168" cy="201168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77072" y="4672583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8F8"/>
                </a:solidFill>
                <a:latin typeface="Calibri"/>
              </a:rPr>
              <a:t>Integration donnees temps reel Senelec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37336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Groupe 6  |  Jean Paul MALAN   Guy Roger Junior GNAORE   COULIBALY Fobeh   TOURE Awa  |  Data Analyst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